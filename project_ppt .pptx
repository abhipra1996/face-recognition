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88" r:id="rId1"/>
  </p:sldMasterIdLst>
  <p:notesMasterIdLst>
    <p:notesMasterId r:id="rId18"/>
  </p:notesMasterIdLst>
  <p:sldIdLst>
    <p:sldId id="256" r:id="rId2"/>
    <p:sldId id="258" r:id="rId3"/>
    <p:sldId id="257" r:id="rId4"/>
    <p:sldId id="276" r:id="rId5"/>
    <p:sldId id="261" r:id="rId6"/>
    <p:sldId id="278" r:id="rId7"/>
    <p:sldId id="280" r:id="rId8"/>
    <p:sldId id="281" r:id="rId9"/>
    <p:sldId id="282" r:id="rId10"/>
    <p:sldId id="284" r:id="rId11"/>
    <p:sldId id="283" r:id="rId12"/>
    <p:sldId id="285" r:id="rId13"/>
    <p:sldId id="269" r:id="rId14"/>
    <p:sldId id="277" r:id="rId15"/>
    <p:sldId id="286" r:id="rId16"/>
    <p:sldId id="271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8C6E3-093A-4453-BFD2-6037FF9B1762}" type="datetimeFigureOut">
              <a:rPr lang="en-US" smtClean="0"/>
              <a:t>5/2/2017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77BE0-ED6E-4D3B-B042-F3BFD973F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14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877BE0-ED6E-4D3B-B042-F3BFD973F0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57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DB79-CE5A-48B4-9418-6E323D9B4CBF}" type="datetimeFigureOut">
              <a:rPr lang="en-US" smtClean="0"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56AEDF1-0E99-4394-855E-E23C724E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9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5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84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63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DB79-CE5A-48B4-9418-6E323D9B4CBF}" type="datetimeFigureOut">
              <a:rPr lang="en-US" smtClean="0"/>
              <a:t>5/2/2017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EDF1-0E99-4394-855E-E23C724E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07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871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36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15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8541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622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6861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418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057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9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IN" sz="1200" smtClean="0">
                <a:solidFill>
                  <a:srgbClr val="8B8B8B"/>
                </a:solidFill>
                <a:latin typeface="Calibri"/>
              </a:rPr>
              <a:t>08/03/17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FC88A774-D4E6-4325-AE5F-2E11F2C2B1FA}" type="slidenum">
              <a:rPr lang="en-IN" sz="1200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83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99" r:id="rId11"/>
    <p:sldLayoutId id="2147484000" r:id="rId12"/>
    <p:sldLayoutId id="2147484001" r:id="rId13"/>
    <p:sldLayoutId id="2147484002" r:id="rId14"/>
    <p:sldLayoutId id="2147484003" r:id="rId15"/>
    <p:sldLayoutId id="214748400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62970" y="1802933"/>
            <a:ext cx="7772040" cy="14695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800" dirty="0" smtClean="0">
                <a:solidFill>
                  <a:srgbClr val="000000"/>
                </a:solidFill>
                <a:latin typeface="Britannic Bold" panose="020B0903060703020204" pitchFamily="34" charset="0"/>
              </a:rPr>
              <a:t> </a:t>
            </a:r>
            <a:r>
              <a:rPr lang="en-US" sz="4800" dirty="0">
                <a:solidFill>
                  <a:srgbClr val="000000"/>
                </a:solidFill>
                <a:latin typeface="Britannic Bold" panose="020B0903060703020204" pitchFamily="34" charset="0"/>
              </a:rPr>
              <a:t>F</a:t>
            </a:r>
            <a:r>
              <a:rPr lang="en-US" sz="4800" dirty="0" smtClean="0">
                <a:solidFill>
                  <a:srgbClr val="000000"/>
                </a:solidFill>
                <a:latin typeface="Britannic Bold" panose="020B0903060703020204" pitchFamily="34" charset="0"/>
              </a:rPr>
              <a:t>ace </a:t>
            </a:r>
            <a:r>
              <a:rPr lang="en-US" sz="4800" dirty="0">
                <a:solidFill>
                  <a:srgbClr val="000000"/>
                </a:solidFill>
                <a:latin typeface="Britannic Bold" panose="020B0903060703020204" pitchFamily="34" charset="0"/>
              </a:rPr>
              <a:t>detection and </a:t>
            </a:r>
            <a:r>
              <a:rPr lang="en-US" sz="4800" dirty="0" smtClean="0">
                <a:solidFill>
                  <a:srgbClr val="000000"/>
                </a:solidFill>
                <a:latin typeface="Britannic Bold" panose="020B0903060703020204" pitchFamily="34" charset="0"/>
              </a:rPr>
              <a:t>recognition using LBP and SVM</a:t>
            </a:r>
            <a:endParaRPr sz="4800" dirty="0">
              <a:latin typeface="Britannic Bold" panose="020B0903060703020204" pitchFamily="34" charset="0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1371600" y="3548418"/>
            <a:ext cx="7772400" cy="315945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00"/>
                </a:solidFill>
                <a:latin typeface="Calibri"/>
              </a:rPr>
              <a:t>	</a:t>
            </a:r>
            <a:endParaRPr lang="en-IN" sz="3200" b="1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00"/>
                </a:solidFill>
                <a:latin typeface="Calibri"/>
              </a:rPr>
              <a:t>	</a:t>
            </a:r>
            <a:r>
              <a:rPr lang="en-IN" sz="3200" b="1" dirty="0" smtClean="0">
                <a:solidFill>
                  <a:srgbClr val="000000"/>
                </a:solidFill>
                <a:latin typeface="Calibri"/>
              </a:rPr>
              <a:t>Mentor</a:t>
            </a:r>
            <a:r>
              <a:rPr lang="en-IN" sz="3200" b="1" dirty="0">
                <a:solidFill>
                  <a:srgbClr val="000000"/>
                </a:solidFill>
                <a:latin typeface="Calibri"/>
              </a:rPr>
              <a:t>: Dr. </a:t>
            </a:r>
            <a:r>
              <a:rPr lang="en-IN" sz="3200" b="1" dirty="0" smtClean="0">
                <a:solidFill>
                  <a:srgbClr val="000000"/>
                </a:solidFill>
                <a:latin typeface="Calibri"/>
              </a:rPr>
              <a:t>B.S. Sanjeev</a:t>
            </a:r>
            <a:endParaRPr dirty="0"/>
          </a:p>
          <a:p>
            <a:pPr algn="ctr">
              <a:lnSpc>
                <a:spcPct val="100000"/>
              </a:lnSpc>
            </a:pPr>
            <a:endParaRPr lang="en-US" dirty="0" smtClean="0"/>
          </a:p>
          <a:p>
            <a:pPr algn="ctr">
              <a:lnSpc>
                <a:spcPct val="100000"/>
              </a:lnSpc>
            </a:pPr>
            <a:r>
              <a:rPr lang="en-US" dirty="0"/>
              <a:t>	</a:t>
            </a:r>
            <a:r>
              <a:rPr lang="en-US" dirty="0" smtClean="0"/>
              <a:t>		</a:t>
            </a:r>
          </a:p>
          <a:p>
            <a:pPr algn="ctr">
              <a:lnSpc>
                <a:spcPct val="100000"/>
              </a:lnSpc>
            </a:pPr>
            <a:r>
              <a:rPr lang="en-US" dirty="0"/>
              <a:t>	</a:t>
            </a:r>
            <a:r>
              <a:rPr lang="en-US" dirty="0" smtClean="0"/>
              <a:t>		Submitted by:</a:t>
            </a:r>
          </a:p>
          <a:p>
            <a:pPr algn="ctr">
              <a:lnSpc>
                <a:spcPct val="100000"/>
              </a:lnSpc>
            </a:pPr>
            <a:r>
              <a:rPr lang="en-US" dirty="0"/>
              <a:t>	</a:t>
            </a:r>
            <a:r>
              <a:rPr lang="en-US" dirty="0" smtClean="0"/>
              <a:t>		Abhinav Prakash(IIT2014046)</a:t>
            </a:r>
          </a:p>
          <a:p>
            <a:pPr algn="ctr">
              <a:lnSpc>
                <a:spcPct val="100000"/>
              </a:lnSpc>
            </a:pPr>
            <a:r>
              <a:rPr lang="en-US" dirty="0" smtClean="0"/>
              <a:t>			   Ranju Panchariya (IIT2014004)</a:t>
            </a:r>
            <a:endParaRPr lang="en-US" dirty="0"/>
          </a:p>
          <a:p>
            <a:pPr algn="ctr">
              <a:lnSpc>
                <a:spcPct val="100000"/>
              </a:lnSpc>
            </a:pPr>
            <a:r>
              <a:rPr lang="en-US" dirty="0" smtClean="0"/>
              <a:t>			Anushka Jaiswal(IIT2014014)</a:t>
            </a:r>
          </a:p>
          <a:p>
            <a:pPr algn="ctr">
              <a:lnSpc>
                <a:spcPct val="100000"/>
              </a:lnSpc>
            </a:pPr>
            <a:r>
              <a:rPr lang="en-US" dirty="0" smtClean="0"/>
              <a:t>			     Preshita Chaudhary(IIT2014024)</a:t>
            </a:r>
          </a:p>
        </p:txBody>
      </p:sp>
      <p:sp>
        <p:nvSpPr>
          <p:cNvPr id="80" name="CustomShape 3"/>
          <p:cNvSpPr/>
          <p:nvPr/>
        </p:nvSpPr>
        <p:spPr>
          <a:xfrm>
            <a:off x="805218" y="736979"/>
            <a:ext cx="6707525" cy="309463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sz="3200" dirty="0">
                <a:solidFill>
                  <a:srgbClr val="000000"/>
                </a:solidFill>
                <a:latin typeface="Calibri"/>
              </a:rPr>
              <a:t>VI S</a:t>
            </a:r>
            <a:r>
              <a:rPr lang="en-IN" sz="3200" dirty="0" smtClean="0">
                <a:solidFill>
                  <a:srgbClr val="000000"/>
                </a:solidFill>
                <a:latin typeface="Calibri"/>
              </a:rPr>
              <a:t>emester </a:t>
            </a:r>
            <a:r>
              <a:rPr lang="en-IN" sz="3200" dirty="0">
                <a:solidFill>
                  <a:srgbClr val="000000"/>
                </a:solidFill>
                <a:latin typeface="Calibri"/>
              </a:rPr>
              <a:t>Project </a:t>
            </a:r>
            <a:endParaRPr dirty="0"/>
          </a:p>
          <a:p>
            <a:pPr algn="ctr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225188" y="0"/>
            <a:ext cx="8229240" cy="9144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Motivation</a:t>
            </a:r>
            <a:endParaRPr dirty="0"/>
          </a:p>
        </p:txBody>
      </p:sp>
      <p:sp>
        <p:nvSpPr>
          <p:cNvPr id="84" name="TextShape 2"/>
          <p:cNvSpPr txBox="1"/>
          <p:nvPr/>
        </p:nvSpPr>
        <p:spPr>
          <a:xfrm>
            <a:off x="457200" y="914399"/>
            <a:ext cx="8229240" cy="566382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endParaRPr lang="en-US" sz="2000" dirty="0" smtClean="0">
              <a:latin typeface="Calibri" panose="020F0502020204030204" pitchFamily="34" charset="0"/>
              <a:cs typeface="Sakkal Majalla" panose="02000000000000000000" pitchFamily="2" charset="-78"/>
            </a:endParaRPr>
          </a:p>
          <a:p>
            <a:pPr>
              <a:lnSpc>
                <a:spcPct val="100000"/>
              </a:lnSpc>
            </a:pPr>
            <a:r>
              <a:rPr lang="en-US" sz="2000" dirty="0" smtClean="0">
                <a:latin typeface="Calibri" panose="020F0502020204030204" pitchFamily="34" charset="0"/>
                <a:cs typeface="Sakkal Majalla" panose="02000000000000000000" pitchFamily="2" charset="-78"/>
              </a:rPr>
              <a:t>Face recognition has gathered much attention in the recent years due to its applicability in various fields such as pattern recognition, biometrics, security etc.</a:t>
            </a:r>
          </a:p>
          <a:p>
            <a:pPr>
              <a:lnSpc>
                <a:spcPct val="100000"/>
              </a:lnSpc>
            </a:pPr>
            <a:endParaRPr lang="en-US" sz="2000" dirty="0" smtClean="0">
              <a:latin typeface="Calibri" panose="020F0502020204030204" pitchFamily="34" charset="0"/>
              <a:cs typeface="Sakkal Majalla" panose="02000000000000000000" pitchFamily="2" charset="-78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cs typeface="Sakkal Majalla" panose="02000000000000000000" pitchFamily="2" charset="-78"/>
              </a:rPr>
              <a:t>The automatic tag feature suggests the social media users to label friends and acquaintances in photos and videos that saves time.</a:t>
            </a:r>
          </a:p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Sakkal Majalla" panose="02000000000000000000" pitchFamily="2" charset="-78"/>
            </a:endParaRPr>
          </a:p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cs typeface="Sakkal Majalla" panose="02000000000000000000" pitchFamily="2" charset="-78"/>
              </a:rPr>
              <a:t>Face recognition helps in keeping confidential data secure and maintaining privacy. Also, surveillance by such systems have given satisfactory results.</a:t>
            </a:r>
          </a:p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Sakkal Majalla" panose="02000000000000000000" pitchFamily="2" charset="-78"/>
            </a:endParaRPr>
          </a:p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cs typeface="Sakkal Majalla" panose="02000000000000000000" pitchFamily="2" charset="-78"/>
              </a:rPr>
              <a:t>Such technologies assist law enforcement agencies to identify suspects and  find missing people.</a:t>
            </a:r>
          </a:p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Sakkal Majalla" panose="02000000000000000000" pitchFamily="2" charset="-78"/>
            </a:endParaRPr>
          </a:p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cs typeface="Sakkal Majalla" panose="02000000000000000000" pitchFamily="2" charset="-78"/>
              </a:rPr>
              <a:t>It has also got its applications in verification and authentication such as  unlocking software on mobile devices, PIN verification etc.</a:t>
            </a:r>
            <a:endParaRPr sz="2000" dirty="0" smtClean="0">
              <a:latin typeface="Calibri" panose="020F0502020204030204" pitchFamily="34" charset="0"/>
              <a:cs typeface="Sakkal Majalla" panose="02000000000000000000" pitchFamily="2" charset="-78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 panose="020F0502020204030204" pitchFamily="34" charset="0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457200" y="192793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Objectives</a:t>
            </a:r>
            <a:endParaRPr dirty="0"/>
          </a:p>
        </p:txBody>
      </p:sp>
      <p:sp>
        <p:nvSpPr>
          <p:cNvPr id="82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questral"/>
                <a:cs typeface="Arabic Typesetting" panose="03020402040406030203" pitchFamily="66" charset="-78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To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develop a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fast and efficient system to detect faces                      quickly in cluttered backgrounds.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endParaRPr sz="2400" dirty="0" smtClean="0">
              <a:latin typeface="Calibri" panose="020F0502020204030204" pitchFamily="34" charset="0"/>
              <a:cs typeface="Arabic Typesetting" panose="03020402040406030203" pitchFamily="66" charset="-78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 To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implement a simple face recognition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system and test it on multiple classes for measuring performance.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Arabic Typesetting" panose="03020402040406030203" pitchFamily="66" charset="-78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To implement a heuristic approach for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f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cs typeface="Arabic Typesetting" panose="03020402040406030203" pitchFamily="66" charset="-78"/>
              </a:rPr>
              <a:t>ace recognition.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Arabic Typesetting" panose="03020402040406030203" pitchFamily="66" charset="-78"/>
            </a:endParaRPr>
          </a:p>
          <a:p>
            <a:pPr>
              <a:lnSpc>
                <a:spcPct val="100000"/>
              </a:lnSpc>
            </a:pPr>
            <a:endParaRPr lang="en-US" sz="3600" dirty="0" smtClean="0">
              <a:solidFill>
                <a:srgbClr val="000000"/>
              </a:solidFill>
              <a:latin typeface="Calibri" panose="020F0502020204030204" pitchFamily="34" charset="0"/>
              <a:cs typeface="Arabic Typesetting" panose="03020402040406030203" pitchFamily="66" charset="-78"/>
            </a:endParaRPr>
          </a:p>
          <a:p>
            <a:pPr>
              <a:lnSpc>
                <a:spcPct val="100000"/>
              </a:lnSpc>
            </a:pPr>
            <a:endParaRPr sz="2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>
              <a:lnSpc>
                <a:spcPct val="100000"/>
              </a:lnSpc>
            </a:pPr>
            <a:endParaRPr sz="2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575" y="172872"/>
            <a:ext cx="6347713" cy="85071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Methodology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14" y="1337480"/>
            <a:ext cx="8124967" cy="4681182"/>
          </a:xfrm>
        </p:spPr>
      </p:pic>
    </p:spTree>
    <p:extLst>
      <p:ext uri="{BB962C8B-B14F-4D97-AF65-F5344CB8AC3E}">
        <p14:creationId xmlns:p14="http://schemas.microsoft.com/office/powerpoint/2010/main" val="423488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457200" y="1146411"/>
            <a:ext cx="8229240" cy="339147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endParaRPr lang="en-US" sz="4400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4400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4400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4400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4400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4400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4400" b="1" dirty="0" smtClean="0">
                <a:solidFill>
                  <a:srgbClr val="000000"/>
                </a:solidFill>
                <a:latin typeface="Calibri"/>
              </a:rPr>
              <a:t>Face Detection using </a:t>
            </a:r>
            <a:r>
              <a:rPr lang="en-US" sz="4400" b="1" dirty="0" err="1" smtClean="0">
                <a:solidFill>
                  <a:srgbClr val="000000"/>
                </a:solidFill>
                <a:latin typeface="Calibri"/>
              </a:rPr>
              <a:t>Haar</a:t>
            </a:r>
            <a:r>
              <a:rPr lang="en-US" sz="4400" b="1" dirty="0" smtClean="0">
                <a:solidFill>
                  <a:srgbClr val="000000"/>
                </a:solidFill>
                <a:latin typeface="Calibri"/>
              </a:rPr>
              <a:t> Cascades</a:t>
            </a:r>
          </a:p>
          <a:p>
            <a:pPr>
              <a:lnSpc>
                <a:spcPct val="100000"/>
              </a:lnSpc>
            </a:pPr>
            <a:endParaRPr lang="en-US" sz="4400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3600" dirty="0" smtClean="0">
                <a:solidFill>
                  <a:srgbClr val="000000"/>
                </a:solidFill>
                <a:latin typeface="Calibri"/>
              </a:rPr>
              <a:t>1)</a:t>
            </a:r>
            <a:r>
              <a:rPr lang="en-US" sz="3600" dirty="0" err="1" smtClean="0">
                <a:solidFill>
                  <a:srgbClr val="000000"/>
                </a:solidFill>
                <a:latin typeface="Calibri"/>
              </a:rPr>
              <a:t>Haar</a:t>
            </a:r>
            <a:r>
              <a:rPr lang="en-US" sz="3600" dirty="0" smtClean="0">
                <a:solidFill>
                  <a:srgbClr val="000000"/>
                </a:solidFill>
                <a:latin typeface="Calibri"/>
              </a:rPr>
              <a:t> Feature selection:</a:t>
            </a:r>
          </a:p>
          <a:p>
            <a:pPr>
              <a:lnSpc>
                <a:spcPct val="100000"/>
              </a:lnSpc>
            </a:pPr>
            <a:endParaRPr lang="en-US" sz="2800" dirty="0" smtClean="0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Calibri"/>
              </a:rPr>
              <a:t>Digital image features that are similar to </a:t>
            </a:r>
            <a:r>
              <a:rPr lang="en-US" sz="2000" dirty="0" err="1" smtClean="0">
                <a:solidFill>
                  <a:srgbClr val="000000"/>
                </a:solidFill>
                <a:latin typeface="Calibri"/>
              </a:rPr>
              <a:t>haar</a:t>
            </a:r>
            <a:r>
              <a:rPr lang="en-US" sz="2000" dirty="0" smtClean="0">
                <a:solidFill>
                  <a:srgbClr val="000000"/>
                </a:solidFill>
                <a:latin typeface="Calibri"/>
              </a:rPr>
              <a:t> wavelets are extracted as working with these features makes feature calculation less expensive.</a:t>
            </a:r>
          </a:p>
          <a:p>
            <a:pPr>
              <a:lnSpc>
                <a:spcPct val="100000"/>
              </a:lnSpc>
            </a:pPr>
            <a:endParaRPr lang="en-US" sz="2000" dirty="0" smtClean="0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Calibri"/>
              </a:rPr>
              <a:t>   Each feature is a single value obtained by:</a:t>
            </a:r>
          </a:p>
          <a:p>
            <a:pPr>
              <a:lnSpc>
                <a:spcPct val="100000"/>
              </a:lnSpc>
            </a:pPr>
            <a:endParaRPr lang="en-US" sz="2800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Calibri"/>
              </a:rPr>
              <a:t>	</a:t>
            </a:r>
            <a:endParaRPr lang="en-US" sz="4400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90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endParaRPr dirty="0">
              <a:latin typeface="questral"/>
            </a:endParaRPr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53" y="5045406"/>
            <a:ext cx="3577102" cy="864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757" y="145576"/>
            <a:ext cx="6347713" cy="878006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2. Integral image: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3582"/>
            <a:ext cx="8816454" cy="5595582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 smtClean="0"/>
              <a:t>To make the computation of sum of pixels easier, integral image process is used which contains sum of all left and upper pixels.</a:t>
            </a:r>
          </a:p>
          <a:p>
            <a:endParaRPr lang="en-US" sz="1900" dirty="0"/>
          </a:p>
          <a:p>
            <a:r>
              <a:rPr lang="en-US" sz="1900" dirty="0" smtClean="0"/>
              <a:t>The integral image at location (</a:t>
            </a:r>
            <a:r>
              <a:rPr lang="en-US" sz="1900" dirty="0" err="1" smtClean="0"/>
              <a:t>x,y</a:t>
            </a:r>
            <a:r>
              <a:rPr lang="en-US" sz="1900" dirty="0" smtClean="0"/>
              <a:t>), is the sum of the pixels above and to the left of (</a:t>
            </a:r>
            <a:r>
              <a:rPr lang="en-US" sz="1900" dirty="0" err="1" smtClean="0"/>
              <a:t>x,y</a:t>
            </a:r>
            <a:r>
              <a:rPr lang="en-US" sz="1900" dirty="0" smtClean="0"/>
              <a:t>), inclusive.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3600" dirty="0" smtClean="0">
                <a:solidFill>
                  <a:schemeClr val="tx1"/>
                </a:solidFill>
              </a:rPr>
              <a:t>3.Adaboost:</a:t>
            </a:r>
          </a:p>
          <a:p>
            <a:pPr marL="0" indent="0">
              <a:buNone/>
            </a:pPr>
            <a:endParaRPr lang="en-US" sz="3600" dirty="0" smtClean="0">
              <a:solidFill>
                <a:schemeClr val="tx1"/>
              </a:solidFill>
            </a:endParaRPr>
          </a:p>
          <a:p>
            <a:r>
              <a:rPr lang="en-US" sz="1900" dirty="0" smtClean="0">
                <a:solidFill>
                  <a:schemeClr val="tx1"/>
                </a:solidFill>
              </a:rPr>
              <a:t>It is a training process that selects only those features that improves the predictive power of the model.</a:t>
            </a:r>
          </a:p>
          <a:p>
            <a:endParaRPr lang="en-US" sz="1900" dirty="0">
              <a:solidFill>
                <a:schemeClr val="tx1"/>
              </a:solidFill>
            </a:endParaRPr>
          </a:p>
          <a:p>
            <a:r>
              <a:rPr lang="en-US" sz="1900" dirty="0" smtClean="0">
                <a:solidFill>
                  <a:schemeClr val="tx1"/>
                </a:solidFill>
              </a:rPr>
              <a:t>The final classifier is a weighted sum of weak classifiers that forms a strong classifier as a whole</a:t>
            </a: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2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2872"/>
            <a:ext cx="6347713" cy="864358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Cascade: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80" y="809462"/>
            <a:ext cx="9025720" cy="5782407"/>
          </a:xfrm>
        </p:spPr>
        <p:txBody>
          <a:bodyPr/>
          <a:lstStyle/>
          <a:p>
            <a:r>
              <a:rPr lang="en-US" dirty="0" smtClean="0"/>
              <a:t>Face candidate images are eliminated by using a cascade of stages.</a:t>
            </a:r>
          </a:p>
          <a:p>
            <a:r>
              <a:rPr lang="en-US" dirty="0" smtClean="0"/>
              <a:t>If all the stages are passed then the image is detected as desired result.</a:t>
            </a:r>
          </a:p>
          <a:p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61" y="2447925"/>
            <a:ext cx="6078514" cy="32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78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23" y="159224"/>
            <a:ext cx="7742831" cy="878006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Feature Extraction using LBP: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22" y="791570"/>
            <a:ext cx="8875595" cy="5841241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Facial region being our region of interest is divided into several smaller regions from which features are extracted.</a:t>
            </a:r>
          </a:p>
          <a:p>
            <a:endParaRPr lang="en-US" dirty="0" smtClean="0"/>
          </a:p>
          <a:p>
            <a:r>
              <a:rPr lang="en-US" dirty="0" smtClean="0"/>
              <a:t>The LBP operator works with 8 neighbors of a pixel, using the value of the center pixel as its threshold. If a neighbor pixel has a higher gray value then the threshold, a 1 is assigned to that pixel, else it gets a 0.</a:t>
            </a:r>
          </a:p>
          <a:p>
            <a:endParaRPr lang="en-US" dirty="0"/>
          </a:p>
          <a:p>
            <a:r>
              <a:rPr lang="en-US" dirty="0" smtClean="0"/>
              <a:t>The LBP code for the central pixel is produced by concatenating the values assigned to the 8 neighbors to form a binary representation.</a:t>
            </a:r>
          </a:p>
          <a:p>
            <a:endParaRPr lang="en-US" dirty="0"/>
          </a:p>
          <a:p>
            <a:r>
              <a:rPr lang="en-US" dirty="0" smtClean="0"/>
              <a:t>Once the LBP for every pixel is calculated, the feature vector of the image can be constructed. </a:t>
            </a:r>
          </a:p>
          <a:p>
            <a:endParaRPr lang="en-US" dirty="0" smtClean="0"/>
          </a:p>
          <a:p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6957312" cy="928048"/>
          </a:xfrm>
        </p:spPr>
        <p:txBody>
          <a:bodyPr>
            <a:normAutofit/>
          </a:bodyPr>
          <a:lstStyle/>
          <a:p>
            <a:r>
              <a:rPr lang="en-US" dirty="0" smtClean="0"/>
              <a:t>Continue..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22" y="491319"/>
            <a:ext cx="8984777" cy="620973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If a face image is divided into 64 regions, for every region a histogram with all possible labels is constructed.</a:t>
            </a:r>
          </a:p>
          <a:p>
            <a:endParaRPr lang="en-US" dirty="0"/>
          </a:p>
          <a:p>
            <a:r>
              <a:rPr lang="en-US" dirty="0" smtClean="0"/>
              <a:t>The feature vector is then constructed by concatenating the regional histograms into one big histogram.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094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573207" y="1"/>
            <a:ext cx="6384106" cy="74053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655" y="4425429"/>
            <a:ext cx="3938247" cy="221565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17" y="740533"/>
            <a:ext cx="3076575" cy="30944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779" y="489293"/>
            <a:ext cx="3632581" cy="311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88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575" y="118281"/>
            <a:ext cx="8397924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Support Vector Machine(SVM) for classification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587" y="1587384"/>
            <a:ext cx="8616288" cy="5168258"/>
          </a:xfrm>
        </p:spPr>
        <p:txBody>
          <a:bodyPr/>
          <a:lstStyle/>
          <a:p>
            <a:r>
              <a:rPr lang="en-US" dirty="0"/>
              <a:t>SVM is a supervised learning model which analyzes data used for the classification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SVM training </a:t>
            </a:r>
            <a:r>
              <a:rPr lang="en-US" dirty="0" smtClean="0"/>
              <a:t>algorithm </a:t>
            </a:r>
            <a:r>
              <a:rPr lang="en-US" dirty="0"/>
              <a:t>builds a model that assigns one category or the other for the test set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From the training data we train the Support Vector Machine classifier with linear kernelization to classify our images</a:t>
            </a:r>
            <a:r>
              <a:rPr lang="en-US" dirty="0" smtClean="0"/>
              <a:t>. This </a:t>
            </a:r>
            <a:r>
              <a:rPr lang="en-US" dirty="0"/>
              <a:t>gives us </a:t>
            </a:r>
            <a:r>
              <a:rPr lang="en-US" dirty="0" smtClean="0"/>
              <a:t>better accuracy then other kernels.</a:t>
            </a:r>
          </a:p>
        </p:txBody>
      </p:sp>
    </p:spTree>
    <p:extLst>
      <p:ext uri="{BB962C8B-B14F-4D97-AF65-F5344CB8AC3E}">
        <p14:creationId xmlns:p14="http://schemas.microsoft.com/office/powerpoint/2010/main" val="1351033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425" y="1197316"/>
            <a:ext cx="6589199" cy="686075"/>
          </a:xfrm>
        </p:spPr>
        <p:txBody>
          <a:bodyPr/>
          <a:lstStyle/>
          <a:p>
            <a:r>
              <a:rPr lang="en-US" dirty="0" smtClean="0"/>
              <a:t>Heuristic Approach: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56" y="2347414"/>
            <a:ext cx="8730134" cy="2947918"/>
          </a:xfrm>
        </p:spPr>
        <p:txBody>
          <a:bodyPr/>
          <a:lstStyle/>
          <a:p>
            <a:r>
              <a:rPr lang="en-US" dirty="0" smtClean="0"/>
              <a:t>We select the label which has been recognized most  of the time in order to improve our efficiency.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22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Calibri"/>
              </a:rPr>
              <a:t>Applications of Face Recognition</a:t>
            </a:r>
            <a:endParaRPr dirty="0"/>
          </a:p>
        </p:txBody>
      </p:sp>
      <p:sp>
        <p:nvSpPr>
          <p:cNvPr id="105" name="TextShape 2"/>
          <p:cNvSpPr txBox="1"/>
          <p:nvPr/>
        </p:nvSpPr>
        <p:spPr>
          <a:xfrm>
            <a:off x="457200" y="1600199"/>
            <a:ext cx="8229240" cy="507355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latin typeface="Calibri" panose="020F0502020204030204" pitchFamily="34" charset="0"/>
              </a:rPr>
              <a:t>Image database investigations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Personnel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logging at various enterprises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Login at secure systems ( mobile phones, ATMs)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Military and intelligence</a:t>
            </a:r>
            <a:endParaRPr sz="24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Law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enforcement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latin typeface="Calibri" panose="020F0502020204030204" pitchFamily="34" charset="0"/>
              </a:rPr>
              <a:t>General identity verification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latin typeface="Calibri" panose="020F0502020204030204" pitchFamily="34" charset="0"/>
              </a:rPr>
              <a:t>Enhancement of security by using surveillance cameras.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latin typeface="Calibri" panose="020F0502020204030204" pitchFamily="34" charset="0"/>
              </a:rPr>
              <a:t>Finding lost children's by using the images received from the cameras fitted at some public places 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latin typeface="Calibri" panose="020F0502020204030204" pitchFamily="34" charset="0"/>
              </a:rPr>
              <a:t>Knowing in advance if some VIP is entering the hotel.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latin typeface="Calibri" panose="020F0502020204030204" pitchFamily="34" charset="0"/>
              </a:rPr>
              <a:t>Detection of a criminal at public place. </a:t>
            </a:r>
            <a:endParaRPr sz="2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757" y="282054"/>
            <a:ext cx="8220503" cy="273410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Result and Analysis: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					</a:t>
            </a:r>
            <a:r>
              <a:rPr lang="en-US" sz="2400" dirty="0" smtClean="0">
                <a:solidFill>
                  <a:schemeClr val="tx1"/>
                </a:solidFill>
              </a:rPr>
              <a:t>Mean delay time is 0.6s.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098" y="2300998"/>
            <a:ext cx="3709941" cy="4168041"/>
          </a:xfrm>
        </p:spPr>
      </p:pic>
    </p:spTree>
    <p:extLst>
      <p:ext uri="{BB962C8B-B14F-4D97-AF65-F5344CB8AC3E}">
        <p14:creationId xmlns:p14="http://schemas.microsoft.com/office/powerpoint/2010/main" val="2938837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77" y="201029"/>
            <a:ext cx="6589199" cy="128089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Result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549" y="1951630"/>
            <a:ext cx="6127845" cy="3466531"/>
          </a:xfrm>
        </p:spPr>
      </p:pic>
    </p:spTree>
    <p:extLst>
      <p:ext uri="{BB962C8B-B14F-4D97-AF65-F5344CB8AC3E}">
        <p14:creationId xmlns:p14="http://schemas.microsoft.com/office/powerpoint/2010/main" val="3220261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00040" y="228600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Calibri"/>
              </a:rPr>
              <a:t>Thank </a:t>
            </a:r>
            <a:r>
              <a:rPr lang="en-US" sz="4400" b="1" dirty="0" smtClean="0">
                <a:solidFill>
                  <a:srgbClr val="000000"/>
                </a:solidFill>
                <a:latin typeface="Calibri"/>
              </a:rPr>
              <a:t>You!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981</TotalTime>
  <Words>654</Words>
  <Application>Microsoft Office PowerPoint</Application>
  <PresentationFormat>On-screen Show (4:3)</PresentationFormat>
  <Paragraphs>104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Arabic Typesetting</vt:lpstr>
      <vt:lpstr>Arial</vt:lpstr>
      <vt:lpstr>Britannic Bold</vt:lpstr>
      <vt:lpstr>Calibri</vt:lpstr>
      <vt:lpstr>Century Gothic</vt:lpstr>
      <vt:lpstr>questral</vt:lpstr>
      <vt:lpstr>Sakkal Majalla</vt:lpstr>
      <vt:lpstr>Wingdings 3</vt:lpstr>
      <vt:lpstr>Wisp</vt:lpstr>
      <vt:lpstr>PowerPoint Presentation</vt:lpstr>
      <vt:lpstr>PowerPoint Presentation</vt:lpstr>
      <vt:lpstr>PowerPoint Presentation</vt:lpstr>
      <vt:lpstr>Methodology</vt:lpstr>
      <vt:lpstr>PowerPoint Presentation</vt:lpstr>
      <vt:lpstr>2. Integral image: </vt:lpstr>
      <vt:lpstr>Cascade:</vt:lpstr>
      <vt:lpstr>Feature Extraction using LBP:</vt:lpstr>
      <vt:lpstr>Continue..</vt:lpstr>
      <vt:lpstr>.</vt:lpstr>
      <vt:lpstr>Support Vector Machine(SVM) for classification</vt:lpstr>
      <vt:lpstr>Heuristic Approach:</vt:lpstr>
      <vt:lpstr>PowerPoint Presentation</vt:lpstr>
      <vt:lpstr> Result and Analysis:       Mean delay time is 0.6s.</vt:lpstr>
      <vt:lpstr> Result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anushka</dc:creator>
  <cp:lastModifiedBy>anushka</cp:lastModifiedBy>
  <cp:revision>46</cp:revision>
  <dcterms:modified xsi:type="dcterms:W3CDTF">2017-05-02T05:22:31Z</dcterms:modified>
</cp:coreProperties>
</file>